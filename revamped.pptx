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</ns0:sldIdLst>
  <ns0:sldSz cx="12192000" cy="6858000" type="screen4x3"/>
  <ns0:notesSz cx="6858000" cy="9144000"/>
  <ns0:embeddedFontLst>
    <ns0:embeddedFont>
      <ns0:font typeface="Inter"/>
      <ns0:italic ns1:id="rIdFont16"/>
      <ns0:bold ns1:id="rIdFont17"/>
      <ns0:regular ns1:id="rIdFont18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Font16" Type="http://schemas.openxmlformats.org/officeDocument/2006/relationships/font" Target="fonts/1e465100-b25a-424e-ac54-f27fc1306dc2.fntdata" /><ns0:Relationship Id="rIdFont17" Type="http://schemas.openxmlformats.org/officeDocument/2006/relationships/font" Target="fonts/119eae09-7a19-4cd0-b292-c4a3a1813286.fntdata" /><ns0:Relationship Id="rIdFont18" Type="http://schemas.openxmlformats.org/officeDocument/2006/relationships/font" Target="fonts/496b920e-2c2b-435a-a1d3-e17e2c4c813e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20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67200" cy="685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29100" cy="6858000"/>
          </a:xfrm>
          <a:prstGeom prst="rect">
            <a:avLst/>
          </a:prstGeom>
          <a:solidFill>
            <a:srgbClr val="1320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29100" y="0"/>
            <a:ext cx="38100" cy="6858000"/>
          </a:xfrm>
          <a:prstGeom prst="rect">
            <a:avLst/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0" y="1771650"/>
            <a:ext cx="2880270" cy="1276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90470" y="1771650"/>
            <a:ext cx="2880270" cy="1276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0" y="3810000"/>
            <a:ext cx="2880270" cy="1276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90470" y="3810000"/>
            <a:ext cx="2880270" cy="12763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3028950"/>
            <a:ext cx="288027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90470" y="3028950"/>
            <a:ext cx="288027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0" y="5067300"/>
            <a:ext cx="288027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90470" y="5067300"/>
            <a:ext cx="2880270" cy="19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9157" y="1771650"/>
            <a:ext cx="3780355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9157" y="2409825"/>
            <a:ext cx="378035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9166" y="2714625"/>
            <a:ext cx="360033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Inter"/>
              </a:rPr>
              <a:t>Shakshi Singh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40428" y="1771650"/>
            <a:ext cx="3780355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40428" y="2409825"/>
            <a:ext cx="378035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Solution Workflow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30436" y="2714625"/>
            <a:ext cx="360033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Inter"/>
              </a:rPr>
              <a:t>Shakshi Singh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9157" y="3810000"/>
            <a:ext cx="3780355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9157" y="4448175"/>
            <a:ext cx="378035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9166" y="4752975"/>
            <a:ext cx="360033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Inter"/>
              </a:rPr>
              <a:t>Viknesh 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0428" y="3810000"/>
            <a:ext cx="3780355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Inter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40428" y="4448175"/>
            <a:ext cx="378035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FFFFFF"/>
                </a:solidFill>
                <a:latin typeface="Inter"/>
              </a:rPr>
              <a:t>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30436" y="4752975"/>
            <a:ext cx="3600338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94A3B8"/>
                </a:solidFill>
                <a:latin typeface="Inter"/>
              </a:rPr>
              <a:t>Viknesh 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23987" y="857250"/>
            <a:ext cx="1550193" cy="5143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000" i="0" u="none">
                <a:solidFill>
                  <a:srgbClr val="FFFFFF"/>
                </a:solidFill>
                <a:latin typeface="Inter"/>
              </a:rPr>
              <a:t>AGENDA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454050" y="1714500"/>
            <a:ext cx="1714500" cy="1714500"/>
          </a:xfrm>
          <a:prstGeom prst="roundRect">
            <a:avLst>
              <a:gd name="adj" fmla="val 2777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238601" y="1714500"/>
            <a:ext cx="1714500" cy="1714500"/>
          </a:xfrm>
          <a:prstGeom prst="roundRect">
            <a:avLst>
              <a:gd name="adj" fmla="val 2777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023151" y="1714500"/>
            <a:ext cx="1714500" cy="1714500"/>
          </a:xfrm>
          <a:prstGeom prst="roundRect">
            <a:avLst>
              <a:gd name="adj" fmla="val 27777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800" y="2133600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5351" y="2228850"/>
            <a:ext cx="381000" cy="3810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89901" y="2228850"/>
            <a:ext cx="381000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10287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Inter"/>
              </a:rPr>
              <a:t>Problem, Solution, Business Value-add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9738" y="2628900"/>
            <a:ext cx="2143125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Problem Statement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150" y="3731895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875" y="3733800"/>
            <a:ext cx="3976687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Manual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and reactive quality processes.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150" y="4089975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875" y="4091880"/>
            <a:ext cx="3976687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Limited coverage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and delayed detection.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0150" y="4448055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875" y="4449960"/>
            <a:ext cx="3976687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Inaccuracies impact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regulatory reporting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150" y="4806136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875" y="4808041"/>
            <a:ext cx="3976687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Drives compliance risks and IT dependency.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57676" y="2724150"/>
            <a:ext cx="12763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925" y="3731895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4650" y="3733800"/>
            <a:ext cx="4016312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AI-driven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proactive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quality platform.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98925" y="4089975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4650" y="4091880"/>
            <a:ext cx="3308300" cy="487560"/>
          </a:xfrm>
          <a:prstGeom prst="rect">
            <a:avLst/>
          </a:prstGeom>
          <a:noFill/>
        </p:spPr>
        <p:txBody>
          <a:bodyPr wrap="squar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Real-time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anomaly detection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and validation.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925" y="4691836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84650" y="4693741"/>
            <a:ext cx="4016312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475569"/>
                </a:solidFill>
                <a:latin typeface="Inter"/>
              </a:rPr>
              <a:t>Automated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DQ control creation.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925" y="5049916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4650" y="5051821"/>
            <a:ext cx="4016312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Insights and AI-based remediation.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0073" y="2724150"/>
            <a:ext cx="1440656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FFFFFF"/>
                </a:solidFill>
                <a:latin typeface="Inter"/>
              </a:rPr>
              <a:t>Value-Add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7351" y="3731895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23076" y="3733800"/>
            <a:ext cx="3768923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Automates rule creation.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7351" y="4089975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23076" y="4091880"/>
            <a:ext cx="3768923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Improves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regulatory reporting accuracy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7351" y="4448055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3076" y="4449960"/>
            <a:ext cx="3768923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Reduces operational manual effort.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7351" y="4806136"/>
            <a:ext cx="85725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3076" y="4808041"/>
            <a:ext cx="3768923" cy="243780"/>
          </a:xfrm>
          <a:prstGeom prst="rect">
            <a:avLst/>
          </a:prstGeom>
          <a:noFill/>
        </p:spPr>
        <p:txBody>
          <a:bodyPr wrap="none" lIns="85725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Reduces lifecycle execution costs by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60%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533400"/>
            <a:ext cx="11582400" cy="4191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Inter"/>
              </a:rP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02870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Inter"/>
              </a:rPr>
              <a:t>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381000" y="1714500"/>
            <a:ext cx="12954000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800" i="0" u="none">
                <a:solidFill>
                  <a:srgbClr val="0F172A"/>
                </a:solidFill>
                <a:latin typeface="Inter"/>
              </a:rPr>
              <a:t>DAR DataShield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-381000" y="2066925"/>
            <a:ext cx="12954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64748B"/>
                </a:solidFill>
                <a:latin typeface="Inter"/>
              </a:rPr>
              <a:t>AI driven process for data quality control</a:t>
            </a:r>
          </a:p>
        </p:txBody>
      </p:sp>
      <p:sp>
        <p:nvSpPr>
          <p:cNvPr id="6" name="Rectangle 5"/>
          <p:cNvSpPr/>
          <p:nvPr/>
        </p:nvSpPr>
        <p:spPr>
          <a:xfrm>
            <a:off x="990600" y="4505325"/>
            <a:ext cx="10210800" cy="285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9675" y="3976687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1E3A8A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42195" y="3881437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0D9488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874716" y="3976687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0284C7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707237" y="3881437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D97706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39757" y="3976687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B45309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372278" y="3881437"/>
            <a:ext cx="609600" cy="609600"/>
          </a:xfrm>
          <a:prstGeom prst="roundRect">
            <a:avLst>
              <a:gd name="adj" fmla="val 18750"/>
            </a:avLst>
          </a:prstGeom>
          <a:solidFill>
            <a:srgbClr val="B91C1C"/>
          </a:solidFill>
          <a:ln w="381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66800" y="3976687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857" y="4738687"/>
            <a:ext cx="1875234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Inter"/>
              </a:rPr>
              <a:t>Source Integration &amp; Metadata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99320" y="3881437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9378" y="3405187"/>
            <a:ext cx="1875234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Inter"/>
              </a:rPr>
              <a:t>AI-Powered Context Enrichment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841" y="3976687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41899" y="4738687"/>
            <a:ext cx="1875234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Inter"/>
              </a:rPr>
              <a:t>Dynamic Interactive Rule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4362" y="3881437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74419" y="3405187"/>
            <a:ext cx="1875234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Inter"/>
              </a:rPr>
              <a:t>Validation &amp; Control Finalization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6882" y="3976687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6940" y="4738687"/>
            <a:ext cx="1875234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Inter"/>
              </a:rPr>
              <a:t>Orchestration &amp; Governance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9403" y="3881437"/>
            <a:ext cx="8953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800" i="0" u="none">
                <a:solidFill>
                  <a:srgbClr val="FFFFFF"/>
                </a:solidFill>
                <a:latin typeface="Inter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39461" y="3405187"/>
            <a:ext cx="1875234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Inter"/>
              </a:rPr>
              <a:t>Actionable Analytics &amp;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00175"/>
            <a:ext cx="10972800" cy="49244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409700"/>
            <a:ext cx="10953750" cy="4905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42975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Inter"/>
              </a:rPr>
              <a:t>Techno-Functional (Initial Standalone Design)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400175"/>
            <a:ext cx="10972800" cy="492442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" y="1409700"/>
            <a:ext cx="10953750" cy="49053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FFFFFF"/>
                </a:solidFill>
                <a:latin typeface="Inter"/>
              </a:rPr>
              <a:t>Revamped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42975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94A3B8"/>
                </a:solidFill>
                <a:latin typeface="Inter"/>
              </a:rPr>
              <a:t>Library-First Model (Zero Row-Level Exfiltration)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33400"/>
            <a:ext cx="10972800" cy="276225"/>
          </a:xfrm>
          <a:prstGeom prst="roundRect">
            <a:avLst>
              <a:gd name="adj" fmla="val 20689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228850"/>
            <a:ext cx="5334000" cy="4095750"/>
          </a:xfrm>
          <a:prstGeom prst="roundRect">
            <a:avLst>
              <a:gd name="adj" fmla="val 37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48400" y="2228850"/>
            <a:ext cx="5334000" cy="4095750"/>
          </a:xfrm>
          <a:prstGeom prst="roundRect">
            <a:avLst>
              <a:gd name="adj" fmla="val 372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065859" y="4686300"/>
            <a:ext cx="2164407" cy="257175"/>
          </a:xfrm>
          <a:prstGeom prst="roundRect">
            <a:avLst>
              <a:gd name="adj" fmla="val 14814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869685" y="4686300"/>
            <a:ext cx="1158478" cy="257175"/>
          </a:xfrm>
          <a:prstGeom prst="roundRect">
            <a:avLst>
              <a:gd name="adj" fmla="val 14814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3225" y="3362325"/>
            <a:ext cx="666750" cy="5334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5362" y="3362325"/>
            <a:ext cx="600075" cy="533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3900" y="590550"/>
            <a:ext cx="10839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STEP 1: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962025"/>
            <a:ext cx="115824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Easy as a Pluggable Package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1543050"/>
            <a:ext cx="95250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Inter"/>
              </a:rPr>
              <a:t>Seamless integration into existing engineering environments.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7635" y="4200525"/>
            <a:ext cx="3437929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Inter"/>
              </a:rPr>
              <a:t>Package Installation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6256" y="4676775"/>
            <a:ext cx="550068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Installed instantly via inside client infrastructure.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40190" y="4200525"/>
            <a:ext cx="3350418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2100" i="0" u="none">
                <a:solidFill>
                  <a:srgbClr val="0F172A"/>
                </a:solidFill>
                <a:latin typeface="Inter"/>
              </a:rPr>
              <a:t>Local Configuration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65056" y="4676775"/>
            <a:ext cx="5500687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Auto-generates foundational files via to govern data quality execution.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71508" y="4724400"/>
            <a:ext cx="255310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0F172A"/>
                </a:solidFill>
                <a:latin typeface="monospace"/>
              </a:rPr>
              <a:t>pip install datashield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01076" y="4724400"/>
            <a:ext cx="129569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b="0" sz="1200" i="0" u="none">
                <a:solidFill>
                  <a:srgbClr val="0F172A"/>
                </a:solidFill>
                <a:latin typeface="monospace"/>
              </a:rPr>
              <a:t>dq/rules.md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33400"/>
            <a:ext cx="10972800" cy="276225"/>
          </a:xfrm>
          <a:prstGeom prst="roundRect">
            <a:avLst>
              <a:gd name="adj" fmla="val 20689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828800" y="1495425"/>
            <a:ext cx="2343596" cy="323850"/>
          </a:xfrm>
          <a:prstGeom prst="roundRect">
            <a:avLst>
              <a:gd name="adj" fmla="val 11764"/>
            </a:avLst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152650"/>
            <a:ext cx="5372100" cy="1971675"/>
          </a:xfrm>
          <a:prstGeom prst="roundRect">
            <a:avLst>
              <a:gd name="adj" fmla="val 579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210300" y="2152650"/>
            <a:ext cx="5372100" cy="1971675"/>
          </a:xfrm>
          <a:prstGeom prst="roundRect">
            <a:avLst>
              <a:gd name="adj" fmla="val 5797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09600" y="4352925"/>
            <a:ext cx="5372100" cy="1971675"/>
          </a:xfrm>
          <a:prstGeom prst="roundRect">
            <a:avLst>
              <a:gd name="adj" fmla="val 579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10300" y="4352925"/>
            <a:ext cx="5372100" cy="1971675"/>
          </a:xfrm>
          <a:prstGeom prst="roundRect">
            <a:avLst>
              <a:gd name="adj" fmla="val 5797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3900" y="590550"/>
            <a:ext cx="10839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STEP 2: BUILD PHASE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62025"/>
            <a:ext cx="115824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Embeddings &amp; Vector DB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154305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Inter"/>
              </a:rPr>
              <a:t>Triggered by . Zero sensitive row data is ever transmitted.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1533525"/>
            <a:ext cx="2286446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0F172A"/>
                </a:solidFill>
                <a:latin typeface="monospace"/>
              </a:rPr>
              <a:t>datashield generate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2390775"/>
            <a:ext cx="611981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01. Metadata 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781300"/>
            <a:ext cx="642580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INFORMATION_SCHEMA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725" y="3086100"/>
            <a:ext cx="4991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Extracts schema, column names, data types, and structural constraints securely on-premise.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8425" y="2390775"/>
            <a:ext cx="57435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02. Semantic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8425" y="2781300"/>
            <a:ext cx="5743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E3A8A"/>
                </a:solidFill>
                <a:latin typeface="Inter"/>
              </a:rPr>
              <a:t>Vector DB (pgvector)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8425" y="3086100"/>
            <a:ext cx="4991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E3A8A"/>
                </a:solidFill>
                <a:latin typeface="Inter"/>
              </a:rPr>
              <a:t>Generates embeddings from column names. Stored in </a:t>
            </a:r>
            <a:r>
              <a:rPr b="1" sz="1200" i="0" u="none">
                <a:solidFill>
                  <a:srgbClr val="1E3A8A"/>
                </a:solidFill>
                <a:latin typeface="Inter"/>
              </a:rPr>
              <a:t>pgvector</a:t>
            </a:r>
            <a:r>
              <a:rPr b="0" sz="1200" i="0" u="none">
                <a:solidFill>
                  <a:srgbClr val="1E3A8A"/>
                </a:solidFill>
                <a:latin typeface="Inter"/>
              </a:rPr>
              <a:t> (or local JSON fallback). </a:t>
            </a:r>
            <a:r>
              <a:rPr b="0" sz="1200" i="1" u="none">
                <a:solidFill>
                  <a:srgbClr val="1E3A8A"/>
                </a:solidFill>
                <a:latin typeface="Inter"/>
              </a:rPr>
              <a:t>Metadata only.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725" y="4591050"/>
            <a:ext cx="6119812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03. Local Profiling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725" y="4981575"/>
            <a:ext cx="6425803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Aggregate Statistics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725" y="5286375"/>
            <a:ext cx="4991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Calculates high-level statistical aggregates (COUNT, MIN, MAX, DISTINCT) exclusively at the source.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8425" y="4591050"/>
            <a:ext cx="5743575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Inter"/>
              </a:rPr>
              <a:t>04. AI Rule Generation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8425" y="4981575"/>
            <a:ext cx="5743575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166534"/>
                </a:solidFill>
                <a:latin typeface="Inter"/>
              </a:rPr>
              <a:t>Internal LLM to GitOps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8425" y="5286375"/>
            <a:ext cx="4991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166534"/>
                </a:solidFill>
                <a:latin typeface="Inter"/>
              </a:rPr>
              <a:t>Combines constraints, vector similarities, and stats. Internal LLM generates rules committed as YAML to Git.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533400"/>
            <a:ext cx="10972800" cy="276225"/>
          </a:xfrm>
          <a:prstGeom prst="roundRect">
            <a:avLst>
              <a:gd name="adj" fmla="val 20689"/>
            </a:avLst>
          </a:prstGeom>
          <a:solidFill>
            <a:srgbClr val="E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09600" y="2076450"/>
            <a:ext cx="10972800" cy="552450"/>
          </a:xfrm>
          <a:prstGeom prst="roundRect">
            <a:avLst>
              <a:gd name="adj" fmla="val 13793"/>
            </a:avLst>
          </a:prstGeom>
          <a:solidFill>
            <a:srgbClr val="FFF7ED"/>
          </a:solidFill>
          <a:ln w="9525">
            <a:solidFill>
              <a:srgbClr val="FDB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09600" y="2933700"/>
            <a:ext cx="3505200" cy="3390900"/>
          </a:xfrm>
          <a:prstGeom prst="roundRect">
            <a:avLst>
              <a:gd name="adj" fmla="val 337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43400" y="2933700"/>
            <a:ext cx="3505200" cy="3390900"/>
          </a:xfrm>
          <a:prstGeom prst="roundRect">
            <a:avLst>
              <a:gd name="adj" fmla="val 337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077200" y="2933700"/>
            <a:ext cx="3505200" cy="3390900"/>
          </a:xfrm>
          <a:prstGeom prst="roundRect">
            <a:avLst>
              <a:gd name="adj" fmla="val 337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81925" y="2233612"/>
            <a:ext cx="1657647" cy="238125"/>
          </a:xfrm>
          <a:prstGeom prst="roundRect">
            <a:avLst>
              <a:gd name="adj" fmla="val 16000"/>
            </a:avLst>
          </a:prstGeom>
          <a:solidFill>
            <a:srgbClr val="FDE7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09600" y="6315075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600" y="2933700"/>
            <a:ext cx="3505200" cy="3810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9600" y="2933700"/>
            <a:ext cx="9525" cy="33909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05275" y="2933700"/>
            <a:ext cx="9525" cy="33909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6315075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43400" y="2933700"/>
            <a:ext cx="35052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2933700"/>
            <a:ext cx="9525" cy="33909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839075" y="2933700"/>
            <a:ext cx="9525" cy="33909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77200" y="6315075"/>
            <a:ext cx="35052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77200" y="2933700"/>
            <a:ext cx="3505200" cy="381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77200" y="2933700"/>
            <a:ext cx="9525" cy="33909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572875" y="2933700"/>
            <a:ext cx="9525" cy="33909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23925" y="4124325"/>
            <a:ext cx="1394668" cy="219075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657725" y="4124325"/>
            <a:ext cx="1760487" cy="219075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91525" y="4124325"/>
            <a:ext cx="1669107" cy="219075"/>
          </a:xfrm>
          <a:prstGeom prst="roundRect">
            <a:avLst>
              <a:gd name="adj" fmla="val 17391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2238375"/>
            <a:ext cx="200025" cy="2286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3276600"/>
            <a:ext cx="2876550" cy="3048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725" y="3276600"/>
            <a:ext cx="2876550" cy="3048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1525" y="3276600"/>
            <a:ext cx="2876550" cy="3048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723900" y="590550"/>
            <a:ext cx="10839450" cy="161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STEP 3: RUN PHASE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9600" y="962025"/>
            <a:ext cx="11582400" cy="4667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Inter"/>
              </a:rPr>
              <a:t>High-Performance Source Execution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600" y="1543050"/>
            <a:ext cx="115824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64748B"/>
                </a:solidFill>
                <a:latin typeface="Inter"/>
              </a:rPr>
              <a:t>Rules execute directly inside the database. No LLM calls. No external APIs.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00150" y="2252662"/>
            <a:ext cx="1037071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A3412"/>
                </a:solidFill>
                <a:latin typeface="Inter"/>
              </a:rPr>
              <a:t>Performance Optimized: 40 complex quality rules execute as 1 single query via 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39075" y="2252662"/>
            <a:ext cx="195775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9A3412"/>
                </a:solidFill>
                <a:latin typeface="monospace"/>
              </a:rPr>
              <a:t>COUNT(*) FILTER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3925" y="3771900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CLI (Development)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3925" y="4114800"/>
            <a:ext cx="2971800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t>
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Instant quality validation via terminal during local rule authoring.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57725" y="3771900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CI/CD (Deployment)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57725" y="4114800"/>
            <a:ext cx="2971800" cy="11525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t>
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Automated sampling validation executing on every PR (GitHub Actions).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1525" y="3771900"/>
            <a:ext cx="377547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Cron (Production)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1525" y="4114800"/>
            <a:ext cx="2971800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t>
</a:t>
            </a:r>
            <a:r>
              <a:t>
</a:t>
            </a:r>
            <a:r>
              <a:rPr b="0" sz="1200" i="0" u="none">
                <a:solidFill>
                  <a:srgbClr val="475569"/>
                </a:solidFill>
                <a:latin typeface="Inter"/>
              </a:rPr>
              <a:t> Batch checks executing natively against Postgres, Snowflake, or Databricks.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1075" y="4143375"/>
            <a:ext cx="1629035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monospace"/>
              </a:rPr>
              <a:t>datashield run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14875" y="4143375"/>
            <a:ext cx="2086309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monospace"/>
              </a:rPr>
              <a:t>run --sample 10000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48675" y="4143375"/>
            <a:ext cx="1972084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monospace"/>
              </a:rPr>
              <a:t>Scheduled Nightly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10112" y="4552950"/>
            <a:ext cx="2771775" cy="523875"/>
          </a:xfrm>
          <a:prstGeom prst="roundRect">
            <a:avLst>
              <a:gd name="adj" fmla="val 21818"/>
            </a:avLst>
          </a:prstGeom>
          <a:solidFill>
            <a:srgbClr val="272E3F"/>
          </a:solidFill>
          <a:ln w="9525">
            <a:solidFill>
              <a:srgbClr val="3F45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781175"/>
            <a:ext cx="762000" cy="762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990725"/>
            <a:ext cx="304800" cy="3429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460" y="2847975"/>
            <a:ext cx="12055078" cy="561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Inter"/>
              </a:rPr>
              <a:t>Enterprise Compliant. Developer Friendly.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28812" y="3600450"/>
            <a:ext cx="8334375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b="0" sz="1500" i="0" u="none">
                <a:solidFill>
                  <a:srgbClr val="94A3B8"/>
                </a:solidFill>
                <a:latin typeface="Inter"/>
              </a:rPr>
              <a:t>Zero data exfiltration. Automated metadata-driven LLM rule generation. Direct source execution via GitOps.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8440" y="4705350"/>
            <a:ext cx="2855118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FFFFFF"/>
                </a:solidFill>
                <a:latin typeface="Inter"/>
              </a:rPr>
              <a:t>Ready for Implementation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